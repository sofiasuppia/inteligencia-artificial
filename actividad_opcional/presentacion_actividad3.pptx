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5C"/>
                </a:solidFill>
              </a:rPr>
              <a:t>Análisis Exploratorio de Datos (EDA)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333333"/>
                </a:solidFill>
              </a:rPr>
              <a:t>Heart Disease Dataset (UCI id=45)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</a:rPr>
              <a:t>• Carga de las 4 bases (Cleveland, Hungary, Switzerland, Long Beach VA) → 920 registros</a:t>
            </a:r>
          </a:p>
          <a:p>
            <a:r>
              <a:rPr sz="1800">
                <a:solidFill>
                  <a:srgbClr val="333333"/>
                </a:solidFill>
              </a:rPr>
              <a:t>• Datos faltantes y su mecanismo (MAR)</a:t>
            </a:r>
          </a:p>
          <a:p>
            <a:r>
              <a:rPr sz="1800">
                <a:solidFill>
                  <a:srgbClr val="333333"/>
                </a:solidFill>
              </a:rPr>
              <a:t>• Estadística descriptiva, outliers, correlaciones y entropía</a:t>
            </a:r>
          </a:p>
          <a:p>
            <a:r>
              <a:rPr sz="1800">
                <a:solidFill>
                  <a:srgbClr val="333333"/>
                </a:solidFill>
              </a:rPr>
              <a:t>• Tratamiento de ceros inválidos en colesterol y presión</a:t>
            </a:r>
          </a:p>
          <a:p>
            <a:r>
              <a:rPr sz="1600" i="1">
                <a:solidFill>
                  <a:srgbClr val="333333"/>
                </a:solidFill>
              </a:rPr>
              <a:t>
Alumna: [NOMBRE]  •  Inteligencia Artificial  •  [FECHA]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5C"/>
                </a:solidFill>
              </a:rPr>
              <a:t>Características generales y datos faltantes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120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333333"/>
                </a:solidFill>
              </a:rPr>
              <a:t>Características: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• 920 registros, 15 columnas (14 clínicas + origen)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• 4 bases de datos combinadas de 4 hospitales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• 14 variables: 8 clínicas y 6 de pruebas cardíacas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• 2 filas duplicadas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333333"/>
                </a:solidFill>
              </a:rPr>
              <a:t>• Desafío: alta proporción de datos faltantes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333333"/>
                </a:solidFill>
              </a:rPr>
              <a:t>Datos faltantes (MAR):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• ca 66% • thal 53% • slope 34% • chol 22%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• 67,5% de filas tiene al menos un nulo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• La ausencia NO es aleatoria: se concentra en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  Hungary, Switzerland y Long Beach VA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• Decisión: no imputar; documentar y trabajar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  con los valores presentes (Opción A)</a:t>
            </a:r>
          </a:p>
        </p:txBody>
      </p:sp>
      <p:pic>
        <p:nvPicPr>
          <p:cNvPr id="4" name="Picture 3" descr="falt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34440"/>
            <a:ext cx="6035040" cy="36210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5C"/>
                </a:solidFill>
              </a:rPr>
              <a:t>Outliers, relaciones y conclusiones</a:t>
            </a:r>
          </a:p>
        </p:txBody>
      </p:sp>
      <p:pic>
        <p:nvPicPr>
          <p:cNvPr id="4" name="Picture 3" descr="m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25880"/>
            <a:ext cx="548640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23444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A9D8F"/>
                </a:solidFill>
              </a:rPr>
              <a:t>Outliers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• IQR: trestbps 27 | chol 23 | oldpeak 16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• Z-score confirma: trestbps (7), chol (8)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• Previa: ceros inválidos de chol (172)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  y trestbps (1) → NaN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• ca es ordinal (0-3): por frecuencias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A9D8F"/>
                </a:solidFill>
              </a:rPr>
              <a:t>Relaciones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• age-trestbps: positiva moderada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• oldpeak-slope: negativa (mismo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  electrocardiograma)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• Se ven también en violinplots y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  tablas de contingencia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5852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A9D8F"/>
                </a:solidFill>
              </a:rPr>
              <a:t>Conclusión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• El desafío es la CALIDAD de los datos,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  no las variables: faltantes (MAR) y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  ceros inválidos.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• Distinguir “0 válido” (ca) de “0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  inválido” (chol) cambió el análisis.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• A futuro (modelo): evaluar imputación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  avanzada (KNN/MICE) o descartar ca/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</a:rPr>
              <a:t>  thal por su alta ausencia.</a:t>
            </a:r>
          </a:p>
        </p:txBody>
      </p:sp>
      <p:pic>
        <p:nvPicPr>
          <p:cNvPr id="8" name="Picture 7" descr="boxplot_trestb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700000"/>
            <a:ext cx="4500000" cy="22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